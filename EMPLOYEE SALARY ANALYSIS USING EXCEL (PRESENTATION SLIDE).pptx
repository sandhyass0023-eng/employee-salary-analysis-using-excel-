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2" r:id="rId15"/>
    <p:sldId id="271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andhya\Downloads\excel%20project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TABLE!PivotTable2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 dirty="0">
                <a:solidFill>
                  <a:schemeClr val="bg1"/>
                </a:solidFill>
              </a:rPr>
              <a:t>AVERAGE</a:t>
            </a:r>
            <a:r>
              <a:rPr lang="en-IN" sz="1200" baseline="0" dirty="0">
                <a:solidFill>
                  <a:schemeClr val="bg1"/>
                </a:solidFill>
              </a:rPr>
              <a:t> </a:t>
            </a:r>
            <a:r>
              <a:rPr lang="en-IN" sz="1200" dirty="0">
                <a:solidFill>
                  <a:schemeClr val="bg1"/>
                </a:solidFill>
              </a:rPr>
              <a:t> SALARY OF DEPARTMENT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TABLE'!$B$3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'PIVOT TABLE'!$A$4:$A$8</c:f>
              <c:strCache>
                <c:ptCount val="4"/>
                <c:pt idx="0">
                  <c:v>Finance</c:v>
                </c:pt>
                <c:pt idx="1">
                  <c:v>HR</c:v>
                </c:pt>
                <c:pt idx="2">
                  <c:v>IT</c:v>
                </c:pt>
                <c:pt idx="3">
                  <c:v>Marketing</c:v>
                </c:pt>
              </c:strCache>
            </c:strRef>
          </c:cat>
          <c:val>
            <c:numRef>
              <c:f>'PIVOT TABLE'!$B$4:$B$8</c:f>
              <c:numCache>
                <c:formatCode>General</c:formatCode>
                <c:ptCount val="4"/>
                <c:pt idx="0">
                  <c:v>92749.639575971727</c:v>
                </c:pt>
                <c:pt idx="1">
                  <c:v>90762.109756097561</c:v>
                </c:pt>
                <c:pt idx="2">
                  <c:v>85660.396039603962</c:v>
                </c:pt>
                <c:pt idx="3">
                  <c:v>90131.293706293713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84-46CC-924D-61C3EAA2C3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990199711"/>
        <c:axId val="990199231"/>
        <c:axId val="0"/>
      </c:bar3DChart>
      <c:catAx>
        <c:axId val="9901997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199231"/>
        <c:crosses val="autoZero"/>
        <c:auto val="1"/>
        <c:lblAlgn val="ctr"/>
        <c:lblOffset val="100"/>
        <c:noMultiLvlLbl val="0"/>
      </c:catAx>
      <c:valAx>
        <c:axId val="9901992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0199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TABLE!PivotTable9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aseline="0"/>
              <a:t>EMPLOYEES IN EACH CONTRACT TYPE </a:t>
            </a:r>
            <a:endParaRPr lang="en-US" sz="1200"/>
          </a:p>
        </c:rich>
      </c:tx>
      <c:layout>
        <c:manualLayout>
          <c:xMode val="edge"/>
          <c:yMode val="edge"/>
          <c:x val="0.16628345337057404"/>
          <c:y val="5.942023883759445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'PIVOT TABLE'!$M$11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TABLE'!$L$12:$L$15</c:f>
              <c:strCache>
                <c:ptCount val="3"/>
                <c:pt idx="0">
                  <c:v>Contract</c:v>
                </c:pt>
                <c:pt idx="1">
                  <c:v>Full-Time</c:v>
                </c:pt>
                <c:pt idx="2">
                  <c:v>Part-Time</c:v>
                </c:pt>
              </c:strCache>
            </c:strRef>
          </c:cat>
          <c:val>
            <c:numRef>
              <c:f>'PIVOT TABLE'!$M$12:$M$15</c:f>
              <c:numCache>
                <c:formatCode>General</c:formatCode>
                <c:ptCount val="3"/>
                <c:pt idx="0">
                  <c:v>406</c:v>
                </c:pt>
                <c:pt idx="1">
                  <c:v>377</c:v>
                </c:pt>
                <c:pt idx="2">
                  <c:v>417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9D4-4B2C-836F-800FF1550C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312021935"/>
        <c:axId val="1312018575"/>
        <c:axId val="0"/>
      </c:bar3DChart>
      <c:catAx>
        <c:axId val="13120219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12018575"/>
        <c:crosses val="autoZero"/>
        <c:auto val="1"/>
        <c:lblAlgn val="ctr"/>
        <c:lblOffset val="100"/>
        <c:noMultiLvlLbl val="0"/>
      </c:catAx>
      <c:valAx>
        <c:axId val="1312018575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120219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TABLE!PivotTable4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/>
              <a:t>EDUCATIONS OF EMPLOYEES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6378589268897584"/>
          <c:y val="0.17782923624113539"/>
          <c:w val="0.82475952767348459"/>
          <c:h val="0.76582280523289814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'PIVOT TABLE'!$I$3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TABLE'!$H$4:$H$8</c:f>
              <c:strCache>
                <c:ptCount val="4"/>
                <c:pt idx="0">
                  <c:v>Bachelor</c:v>
                </c:pt>
                <c:pt idx="1">
                  <c:v>High School</c:v>
                </c:pt>
                <c:pt idx="2">
                  <c:v>Master</c:v>
                </c:pt>
                <c:pt idx="3">
                  <c:v>PhD</c:v>
                </c:pt>
              </c:strCache>
            </c:strRef>
          </c:cat>
          <c:val>
            <c:numRef>
              <c:f>'PIVOT TABLE'!$I$4:$I$8</c:f>
              <c:numCache>
                <c:formatCode>General</c:formatCode>
                <c:ptCount val="4"/>
                <c:pt idx="0">
                  <c:v>293</c:v>
                </c:pt>
                <c:pt idx="1">
                  <c:v>277</c:v>
                </c:pt>
                <c:pt idx="2">
                  <c:v>309</c:v>
                </c:pt>
                <c:pt idx="3">
                  <c:v>321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FB-49DD-943E-31C16E05D5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950085183"/>
        <c:axId val="950085663"/>
        <c:axId val="0"/>
      </c:bar3DChart>
      <c:catAx>
        <c:axId val="95008518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0085663"/>
        <c:crosses val="autoZero"/>
        <c:auto val="1"/>
        <c:lblAlgn val="ctr"/>
        <c:lblOffset val="100"/>
        <c:noMultiLvlLbl val="0"/>
      </c:catAx>
      <c:valAx>
        <c:axId val="950085663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50085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TABLE!PivotTable8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AVERAGE PERFORMANCE SCORE BY DEPARTMENT </a:t>
            </a:r>
          </a:p>
        </c:rich>
      </c:tx>
      <c:layout>
        <c:manualLayout>
          <c:xMode val="edge"/>
          <c:yMode val="edge"/>
          <c:x val="0.16778096630252889"/>
          <c:y val="6.09343075101155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dLbl>
          <c:idx val="0"/>
          <c:tx>
            <c:rich>
              <a:bodyPr/>
              <a:lstStyle/>
              <a:p>
                <a:fld id="{D78706D1-7F1E-4C2C-9408-994E672EE7BA}" type="VALUE">
                  <a:rPr lang="en-US"/>
                  <a:pPr/>
                  <a:t>[VALUE]</a:t>
                </a:fld>
                <a:endParaRPr lang="en-IN"/>
              </a:p>
            </c:rich>
          </c:tx>
          <c:dLblPos val="ctr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4"/>
        <c:dLbl>
          <c:idx val="0"/>
          <c:tx>
            <c:rich>
              <a:bodyPr/>
              <a:lstStyle/>
              <a:p>
                <a:fld id="{03BA4624-FDA6-4E9D-AAA4-A23AB8E1300C}" type="VALUE">
                  <a:rPr lang="en-US"/>
                  <a:pPr/>
                  <a:t>[VALUE]</a:t>
                </a:fld>
                <a:endParaRPr lang="en-IN"/>
              </a:p>
            </c:rich>
          </c:tx>
          <c:dLblPos val="ctr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5"/>
        <c:dLbl>
          <c:idx val="0"/>
          <c:tx>
            <c:rich>
              <a:bodyPr/>
              <a:lstStyle/>
              <a:p>
                <a:fld id="{CDC990BD-5AB0-4F9A-BCA7-63E7A2CFFABB}" type="VALUE">
                  <a:rPr lang="en-US"/>
                  <a:pPr/>
                  <a:t>[VALUE]</a:t>
                </a:fld>
                <a:endParaRPr lang="en-IN"/>
              </a:p>
            </c:rich>
          </c:tx>
          <c:dLblPos val="ctr"/>
          <c:showLegendKey val="0"/>
          <c:showVal val="1"/>
          <c:showCatName val="0"/>
          <c:showSerName val="0"/>
          <c:showPercent val="0"/>
          <c:showBubbleSize val="0"/>
          <c:separator>, </c:separator>
          <c:extLst>
            <c:ext xmlns:c15="http://schemas.microsoft.com/office/drawing/2012/chart" uri="{CE6537A1-D6FC-4f65-9D91-7224C49458BB}">
              <c15:dlblFieldTable/>
              <c15:showDataLabelsRange val="0"/>
            </c:ext>
          </c:extLst>
        </c:dLbl>
      </c:pivotFmt>
      <c:pivotFmt>
        <c:idx val="6"/>
        <c:dLbl>
          <c:idx val="0"/>
          <c:dLblPos val="ctr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8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9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1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'PIVOT TABLE'!$I$11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'PIVOT TABLE'!$H$12:$H$16</c:f>
              <c:strCache>
                <c:ptCount val="4"/>
                <c:pt idx="0">
                  <c:v>Finance</c:v>
                </c:pt>
                <c:pt idx="1">
                  <c:v>HR</c:v>
                </c:pt>
                <c:pt idx="2">
                  <c:v>IT</c:v>
                </c:pt>
                <c:pt idx="3">
                  <c:v>Marketing</c:v>
                </c:pt>
              </c:strCache>
            </c:strRef>
          </c:cat>
          <c:val>
            <c:numRef>
              <c:f>'PIVOT TABLE'!$I$12:$I$16</c:f>
              <c:numCache>
                <c:formatCode>General</c:formatCode>
                <c:ptCount val="4"/>
                <c:pt idx="0">
                  <c:v>5.0918727915194344</c:v>
                </c:pt>
                <c:pt idx="1">
                  <c:v>4.9603658536585362</c:v>
                </c:pt>
                <c:pt idx="2">
                  <c:v>4.8514851485148514</c:v>
                </c:pt>
                <c:pt idx="3">
                  <c:v>4.9475524475524475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D1F-40AE-9AD8-7CC90EBB4F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011588511"/>
        <c:axId val="1011588031"/>
      </c:barChart>
      <c:catAx>
        <c:axId val="10115885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1588031"/>
        <c:crosses val="autoZero"/>
        <c:auto val="1"/>
        <c:lblAlgn val="ctr"/>
        <c:lblOffset val="100"/>
        <c:noMultiLvlLbl val="0"/>
      </c:catAx>
      <c:valAx>
        <c:axId val="101158803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0115885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TABLE!PivotTable7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/>
              <a:t>NUMBER OF EMPLOYEES IN DEPARTMENT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TABLE'!$E$11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cat>
            <c:strRef>
              <c:f>'PIVOT TABLE'!$D$12:$D$16</c:f>
              <c:strCache>
                <c:ptCount val="4"/>
                <c:pt idx="0">
                  <c:v>Finance</c:v>
                </c:pt>
                <c:pt idx="1">
                  <c:v>HR</c:v>
                </c:pt>
                <c:pt idx="2">
                  <c:v>IT</c:v>
                </c:pt>
                <c:pt idx="3">
                  <c:v>Marketing</c:v>
                </c:pt>
              </c:strCache>
            </c:strRef>
          </c:cat>
          <c:val>
            <c:numRef>
              <c:f>'PIVOT TABLE'!$E$12:$E$16</c:f>
              <c:numCache>
                <c:formatCode>General</c:formatCode>
                <c:ptCount val="4"/>
                <c:pt idx="0">
                  <c:v>283</c:v>
                </c:pt>
                <c:pt idx="1">
                  <c:v>328</c:v>
                </c:pt>
                <c:pt idx="2">
                  <c:v>303</c:v>
                </c:pt>
                <c:pt idx="3">
                  <c:v>286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0B-4E07-ABED-944B0031E0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81027551"/>
        <c:axId val="981020831"/>
      </c:lineChart>
      <c:catAx>
        <c:axId val="9810275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81020831"/>
        <c:crosses val="autoZero"/>
        <c:auto val="1"/>
        <c:lblAlgn val="ctr"/>
        <c:lblOffset val="100"/>
        <c:noMultiLvlLbl val="0"/>
      </c:catAx>
      <c:valAx>
        <c:axId val="981020831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981027551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35000"/>
                <a:lumOff val="6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 project.xlsx]PIVOT TABLE!PivotTable24</c:name>
    <c:fmtId val="1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/>
              <a:t>REMOTE WORK PREFRENCE OF EMPLOYYES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circle"/>
          <c:size val="6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shade val="76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6"/>
        <c:spPr>
          <a:solidFill>
            <a:schemeClr val="accent1">
              <a:tint val="77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shade val="76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9"/>
        <c:spPr>
          <a:solidFill>
            <a:schemeClr val="accent1">
              <a:tint val="77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shade val="76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  <c:pivotFmt>
        <c:idx val="12"/>
        <c:spPr>
          <a:solidFill>
            <a:schemeClr val="accent1">
              <a:tint val="77000"/>
            </a:schemeClr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  <a:sp3d/>
        </c:spPr>
      </c:pivotFmt>
    </c:pivotFmts>
    <c:view3D>
      <c:rotX val="5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5.0428390536014292E-2"/>
          <c:y val="0.21728069136553177"/>
          <c:w val="0.84521660696973444"/>
          <c:h val="0.74343315874786331"/>
        </c:manualLayout>
      </c:layout>
      <c:pie3DChart>
        <c:varyColors val="1"/>
        <c:ser>
          <c:idx val="0"/>
          <c:order val="0"/>
          <c:tx>
            <c:strRef>
              <c:f>'PIVOT TABLE'!$M$57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1-E53D-4628-A3FA-7B663688F91D}"/>
              </c:ext>
            </c:extLst>
          </c:dPt>
          <c:dPt>
            <c:idx val="1"/>
            <c:bubble3D val="0"/>
            <c:spPr>
              <a:solidFill>
                <a:schemeClr val="accent1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  <a:sp3d/>
            </c:spPr>
            <c:extLst>
              <c:ext xmlns:c16="http://schemas.microsoft.com/office/drawing/2014/chart" uri="{C3380CC4-5D6E-409C-BE32-E72D297353CC}">
                <c16:uniqueId val="{00000003-E53D-4628-A3FA-7B663688F91D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'PIVOT TABLE'!$L$58:$L$60</c:f>
              <c:strCache>
                <c:ptCount val="2"/>
                <c:pt idx="0">
                  <c:v>No</c:v>
                </c:pt>
                <c:pt idx="1">
                  <c:v>Yes</c:v>
                </c:pt>
              </c:strCache>
            </c:strRef>
          </c:cat>
          <c:val>
            <c:numRef>
              <c:f>'PIVOT TABLE'!$M$58:$M$60</c:f>
              <c:numCache>
                <c:formatCode>General</c:formatCode>
                <c:ptCount val="2"/>
                <c:pt idx="0">
                  <c:v>575</c:v>
                </c:pt>
                <c:pt idx="1">
                  <c:v>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53D-4628-A3FA-7B663688F91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TABLE!PivotTable15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/>
              <a:t>MAX.SALARY OF EACH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tx>
            <c:strRef>
              <c:f>'PIVOT TABLE'!$E$30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TABLE'!$D$31:$D$37</c:f>
              <c:strCache>
                <c:ptCount val="6"/>
                <c:pt idx="0">
                  <c:v>Delhi</c:v>
                </c:pt>
                <c:pt idx="1">
                  <c:v>Karachi</c:v>
                </c:pt>
                <c:pt idx="2">
                  <c:v>LA</c:v>
                </c:pt>
                <c:pt idx="3">
                  <c:v>London</c:v>
                </c:pt>
                <c:pt idx="4">
                  <c:v>NY</c:v>
                </c:pt>
                <c:pt idx="5">
                  <c:v>Toronto</c:v>
                </c:pt>
              </c:strCache>
            </c:strRef>
          </c:cat>
          <c:val>
            <c:numRef>
              <c:f>'PIVOT TABLE'!$E$31:$E$37</c:f>
              <c:numCache>
                <c:formatCode>General</c:formatCode>
                <c:ptCount val="6"/>
                <c:pt idx="0">
                  <c:v>149774</c:v>
                </c:pt>
                <c:pt idx="1">
                  <c:v>149289</c:v>
                </c:pt>
                <c:pt idx="2">
                  <c:v>149815</c:v>
                </c:pt>
                <c:pt idx="3">
                  <c:v>147996</c:v>
                </c:pt>
                <c:pt idx="4">
                  <c:v>148558</c:v>
                </c:pt>
                <c:pt idx="5">
                  <c:v>149547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45-47BC-A734-C959333D1D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5"/>
        <c:shape val="box"/>
        <c:axId val="1163625072"/>
        <c:axId val="1163626032"/>
        <c:axId val="0"/>
      </c:bar3DChart>
      <c:catAx>
        <c:axId val="11636250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3626032"/>
        <c:crosses val="autoZero"/>
        <c:auto val="1"/>
        <c:lblAlgn val="ctr"/>
        <c:lblOffset val="100"/>
        <c:noMultiLvlLbl val="0"/>
      </c:catAx>
      <c:valAx>
        <c:axId val="1163626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63625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TABLE!PivotTable10</c:name>
    <c:fmtId val="1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 baseline="0"/>
              <a:t>AVERAGE  WORKING HOURS PER DEPARTMENT</a:t>
            </a:r>
            <a:endParaRPr lang="en-US" sz="12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accent1">
                <a:lumMod val="75000"/>
              </a:schemeClr>
            </a:solidFill>
            <a:round/>
          </a:ln>
          <a:effectLst/>
          <a:sp3d contourW="9525">
            <a:contourClr>
              <a:schemeClr val="accent1">
                <a:lumMod val="75000"/>
              </a:schemeClr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0"/>
      <c:rotY val="0"/>
      <c:depthPercent val="60"/>
      <c:rAngAx val="0"/>
      <c:perspective val="100"/>
    </c:view3D>
    <c:floor>
      <c:thickness val="0"/>
      <c:spPr>
        <a:solidFill>
          <a:schemeClr val="lt1">
            <a:lumMod val="95000"/>
          </a:schemeClr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'PIVOT TABLE'!$B$21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accent1">
                  <a:lumMod val="75000"/>
                </a:schemeClr>
              </a:solidFill>
              <a:round/>
            </a:ln>
            <a:effectLst/>
            <a:sp3d contourW="9525">
              <a:contourClr>
                <a:schemeClr val="accent1">
                  <a:lumMod val="75000"/>
                </a:schemeClr>
              </a:contourClr>
            </a:sp3d>
          </c:spPr>
          <c:invertIfNegative val="0"/>
          <c:cat>
            <c:strRef>
              <c:f>'PIVOT TABLE'!$A$22:$A$26</c:f>
              <c:strCache>
                <c:ptCount val="4"/>
                <c:pt idx="0">
                  <c:v>Finance</c:v>
                </c:pt>
                <c:pt idx="1">
                  <c:v>HR</c:v>
                </c:pt>
                <c:pt idx="2">
                  <c:v>IT</c:v>
                </c:pt>
                <c:pt idx="3">
                  <c:v>Marketing</c:v>
                </c:pt>
              </c:strCache>
            </c:strRef>
          </c:cat>
          <c:val>
            <c:numRef>
              <c:f>'PIVOT TABLE'!$B$22:$B$26</c:f>
              <c:numCache>
                <c:formatCode>General</c:formatCode>
                <c:ptCount val="4"/>
                <c:pt idx="0">
                  <c:v>45.289752650176681</c:v>
                </c:pt>
                <c:pt idx="1">
                  <c:v>44.006097560975611</c:v>
                </c:pt>
                <c:pt idx="2">
                  <c:v>44.67326732673267</c:v>
                </c:pt>
                <c:pt idx="3">
                  <c:v>43.5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A5-4AE9-B5B5-83C9BE71CB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5"/>
        <c:shape val="box"/>
        <c:axId val="194938047"/>
        <c:axId val="194946207"/>
        <c:axId val="0"/>
      </c:bar3DChart>
      <c:catAx>
        <c:axId val="194938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46207"/>
        <c:crosses val="autoZero"/>
        <c:auto val="1"/>
        <c:lblAlgn val="ctr"/>
        <c:lblOffset val="100"/>
        <c:noMultiLvlLbl val="0"/>
      </c:catAx>
      <c:valAx>
        <c:axId val="1949462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3804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[excel project.xlsx]PIVOT TABLE!PivotTable17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200"/>
              <a:t>TOTAL PERFORMANCE SCORE OF EACH CITY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31750" cap="rnd" cmpd="sng" algn="ctr">
            <a:solidFill>
              <a:schemeClr val="accent1"/>
            </a:solidFill>
            <a:round/>
          </a:ln>
          <a:effectLst/>
        </c:spPr>
        <c:marker>
          <c:symbol val="circle"/>
          <c:size val="17"/>
          <c:spPr>
            <a:solidFill>
              <a:schemeClr val="accent1"/>
            </a:solidFill>
            <a:ln>
              <a:noFill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'PIVOT TABLE'!$I$30</c:f>
              <c:strCache>
                <c:ptCount val="1"/>
                <c:pt idx="0">
                  <c:v>Total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'PIVOT TABLE'!$H$31:$H$37</c:f>
              <c:strCache>
                <c:ptCount val="6"/>
                <c:pt idx="0">
                  <c:v>Delhi</c:v>
                </c:pt>
                <c:pt idx="1">
                  <c:v>Karachi</c:v>
                </c:pt>
                <c:pt idx="2">
                  <c:v>LA</c:v>
                </c:pt>
                <c:pt idx="3">
                  <c:v>London</c:v>
                </c:pt>
                <c:pt idx="4">
                  <c:v>NY</c:v>
                </c:pt>
                <c:pt idx="5">
                  <c:v>Toronto</c:v>
                </c:pt>
              </c:strCache>
            </c:strRef>
          </c:cat>
          <c:val>
            <c:numRef>
              <c:f>'PIVOT TABLE'!$I$31:$I$37</c:f>
              <c:numCache>
                <c:formatCode>General</c:formatCode>
                <c:ptCount val="6"/>
                <c:pt idx="0">
                  <c:v>953</c:v>
                </c:pt>
                <c:pt idx="1">
                  <c:v>921</c:v>
                </c:pt>
                <c:pt idx="2">
                  <c:v>994</c:v>
                </c:pt>
                <c:pt idx="3">
                  <c:v>1018</c:v>
                </c:pt>
                <c:pt idx="4">
                  <c:v>1130</c:v>
                </c:pt>
                <c:pt idx="5">
                  <c:v>937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B3B-41AA-A91A-C1ED91E56D0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404876240"/>
        <c:axId val="1404875280"/>
      </c:lineChart>
      <c:catAx>
        <c:axId val="1404876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04875280"/>
        <c:crosses val="autoZero"/>
        <c:auto val="1"/>
        <c:lblAlgn val="ctr"/>
        <c:lblOffset val="100"/>
        <c:noMultiLvlLbl val="0"/>
      </c:catAx>
      <c:valAx>
        <c:axId val="140487528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404876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[excel project.xlsx]PIVOT TABLE!PivotTable21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200"/>
              <a:t>TOTAL SALARY OF EACH JOB TITLE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circle"/>
          <c:size val="6"/>
          <c:spPr>
            <a:solidFill>
              <a:schemeClr val="accent1">
                <a:alpha val="85000"/>
              </a:schemeClr>
            </a:solidFill>
            <a:ln>
              <a:noFill/>
            </a:ln>
            <a:effectLst/>
          </c:spPr>
        </c:marker>
      </c:pivotFmt>
      <c:pivotFmt>
        <c:idx val="1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</c:pivotFmt>
      <c:pivotFmt>
        <c:idx val="2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>
              <a:alpha val="85000"/>
            </a:schemeClr>
          </a:solidFill>
          <a:ln w="9525" cap="flat" cmpd="sng" algn="ctr">
            <a:solidFill>
              <a:schemeClr val="lt1">
                <a:alpha val="50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'PIVOT TABLE'!$M$46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cat>
            <c:strRef>
              <c:f>'PIVOT TABLE'!$L$47:$L$51</c:f>
              <c:strCache>
                <c:ptCount val="4"/>
                <c:pt idx="0">
                  <c:v>Analyst</c:v>
                </c:pt>
                <c:pt idx="1">
                  <c:v>Designer</c:v>
                </c:pt>
                <c:pt idx="2">
                  <c:v>Developer</c:v>
                </c:pt>
                <c:pt idx="3">
                  <c:v>Manager</c:v>
                </c:pt>
              </c:strCache>
            </c:strRef>
          </c:cat>
          <c:val>
            <c:numRef>
              <c:f>'PIVOT TABLE'!$M$47:$M$51</c:f>
              <c:numCache>
                <c:formatCode>General</c:formatCode>
                <c:ptCount val="4"/>
                <c:pt idx="0">
                  <c:v>29395815</c:v>
                </c:pt>
                <c:pt idx="1">
                  <c:v>26887322</c:v>
                </c:pt>
                <c:pt idx="2">
                  <c:v>24485355</c:v>
                </c:pt>
                <c:pt idx="3">
                  <c:v>26982278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7E-42C1-8557-6B27E20BEF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87097760"/>
        <c:axId val="1187094880"/>
      </c:barChart>
      <c:catAx>
        <c:axId val="11870977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7094880"/>
        <c:crosses val="autoZero"/>
        <c:auto val="1"/>
        <c:lblAlgn val="ctr"/>
        <c:lblOffset val="100"/>
        <c:noMultiLvlLbl val="0"/>
      </c:catAx>
      <c:valAx>
        <c:axId val="1187094880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187097760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>
            <a:solidFill>
              <a:schemeClr val="dk1">
                <a:lumMod val="35000"/>
                <a:lumOff val="65000"/>
              </a:schemeClr>
            </a:solidFill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4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8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phClr">
            <a:lumMod val="7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sp3d/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/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>
      <cs:styleClr val="auto"/>
    </cs:fillRef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300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8B0282-EDB0-4E07-BE44-2C5C161005AE}" type="doc">
      <dgm:prSet loTypeId="urn:microsoft.com/office/officeart/2005/8/layout/cycle6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5A22F69-9675-40E8-9962-406066AD2346}">
      <dgm:prSet/>
      <dgm:spPr/>
      <dgm:t>
        <a:bodyPr/>
        <a:lstStyle/>
        <a:p>
          <a:r>
            <a:rPr lang="en-US" dirty="0"/>
            <a:t> </a:t>
          </a:r>
          <a:r>
            <a:rPr lang="en-US" b="1" dirty="0"/>
            <a:t>COLLECTION OF DATA</a:t>
          </a:r>
          <a:endParaRPr lang="en-IN" b="1" dirty="0"/>
        </a:p>
      </dgm:t>
    </dgm:pt>
    <dgm:pt modelId="{9F5CDF76-2EC5-4B2A-A9A6-8ABBF17C1C0D}" type="parTrans" cxnId="{40D9D547-F039-4DD9-BFE2-7E7209927817}">
      <dgm:prSet/>
      <dgm:spPr/>
      <dgm:t>
        <a:bodyPr/>
        <a:lstStyle/>
        <a:p>
          <a:endParaRPr lang="en-IN"/>
        </a:p>
      </dgm:t>
    </dgm:pt>
    <dgm:pt modelId="{14235892-5B57-4B0E-84DF-2D45EEE531A5}" type="sibTrans" cxnId="{40D9D547-F039-4DD9-BFE2-7E7209927817}">
      <dgm:prSet/>
      <dgm:spPr/>
      <dgm:t>
        <a:bodyPr/>
        <a:lstStyle/>
        <a:p>
          <a:endParaRPr lang="en-IN"/>
        </a:p>
      </dgm:t>
    </dgm:pt>
    <dgm:pt modelId="{C2C98302-C5FD-4843-82F6-E655B6B3CB5C}">
      <dgm:prSet/>
      <dgm:spPr/>
      <dgm:t>
        <a:bodyPr/>
        <a:lstStyle/>
        <a:p>
          <a:r>
            <a:rPr lang="en-US" dirty="0"/>
            <a:t>UNDERSTANDING DATA AND BUSINESS PROBLEM</a:t>
          </a:r>
          <a:endParaRPr lang="en-IN" dirty="0"/>
        </a:p>
      </dgm:t>
    </dgm:pt>
    <dgm:pt modelId="{F0F4F4A1-4089-46DC-A84C-5215F17A691D}" type="parTrans" cxnId="{157E785A-216D-42A4-A2E2-4FDB16EE35BA}">
      <dgm:prSet/>
      <dgm:spPr/>
      <dgm:t>
        <a:bodyPr/>
        <a:lstStyle/>
        <a:p>
          <a:endParaRPr lang="en-IN"/>
        </a:p>
      </dgm:t>
    </dgm:pt>
    <dgm:pt modelId="{F07B44D1-16F9-4992-B8DB-9BD9E4344FC8}" type="sibTrans" cxnId="{157E785A-216D-42A4-A2E2-4FDB16EE35BA}">
      <dgm:prSet/>
      <dgm:spPr/>
      <dgm:t>
        <a:bodyPr/>
        <a:lstStyle/>
        <a:p>
          <a:endParaRPr lang="en-IN"/>
        </a:p>
      </dgm:t>
    </dgm:pt>
    <dgm:pt modelId="{03574317-FD3C-4C9A-BA5F-15376FDCBF75}">
      <dgm:prSet/>
      <dgm:spPr/>
      <dgm:t>
        <a:bodyPr/>
        <a:lstStyle/>
        <a:p>
          <a:r>
            <a:rPr lang="en-US" dirty="0"/>
            <a:t> DATA CLEANING</a:t>
          </a:r>
          <a:endParaRPr lang="en-IN" dirty="0"/>
        </a:p>
      </dgm:t>
    </dgm:pt>
    <dgm:pt modelId="{7D5283B8-9006-4761-8CD4-6508A4EBD4F2}" type="parTrans" cxnId="{04E52B17-6433-481D-A410-44C9CE674B9E}">
      <dgm:prSet/>
      <dgm:spPr/>
      <dgm:t>
        <a:bodyPr/>
        <a:lstStyle/>
        <a:p>
          <a:endParaRPr lang="en-IN"/>
        </a:p>
      </dgm:t>
    </dgm:pt>
    <dgm:pt modelId="{375CC065-E402-4245-8EEB-4DD8A2BE8E0E}" type="sibTrans" cxnId="{04E52B17-6433-481D-A410-44C9CE674B9E}">
      <dgm:prSet/>
      <dgm:spPr/>
      <dgm:t>
        <a:bodyPr/>
        <a:lstStyle/>
        <a:p>
          <a:endParaRPr lang="en-IN"/>
        </a:p>
      </dgm:t>
    </dgm:pt>
    <dgm:pt modelId="{FBFDF318-9651-4E4A-837F-116AAD720CAD}">
      <dgm:prSet/>
      <dgm:spPr/>
      <dgm:t>
        <a:bodyPr/>
        <a:lstStyle/>
        <a:p>
          <a:r>
            <a:rPr lang="en-US" dirty="0"/>
            <a:t> DATA TRANSFORMATION</a:t>
          </a:r>
          <a:endParaRPr lang="en-IN" dirty="0"/>
        </a:p>
      </dgm:t>
    </dgm:pt>
    <dgm:pt modelId="{A77E9D36-C044-4E2D-A6C4-1DC2CC8000B9}" type="parTrans" cxnId="{81BC2934-7D60-483C-85DE-D488B1F67683}">
      <dgm:prSet/>
      <dgm:spPr/>
      <dgm:t>
        <a:bodyPr/>
        <a:lstStyle/>
        <a:p>
          <a:endParaRPr lang="en-IN"/>
        </a:p>
      </dgm:t>
    </dgm:pt>
    <dgm:pt modelId="{DEC6BB5A-39DA-490F-85C7-D2A1F31DCB86}" type="sibTrans" cxnId="{81BC2934-7D60-483C-85DE-D488B1F67683}">
      <dgm:prSet/>
      <dgm:spPr/>
      <dgm:t>
        <a:bodyPr/>
        <a:lstStyle/>
        <a:p>
          <a:endParaRPr lang="en-IN"/>
        </a:p>
      </dgm:t>
    </dgm:pt>
    <dgm:pt modelId="{22465B5F-F9E5-47C1-8E6E-6287C92AB0D4}">
      <dgm:prSet/>
      <dgm:spPr/>
      <dgm:t>
        <a:bodyPr/>
        <a:lstStyle/>
        <a:p>
          <a:r>
            <a:rPr lang="en-US" dirty="0"/>
            <a:t> EXPLORATORY DATA ANALYSIS</a:t>
          </a:r>
          <a:endParaRPr lang="en-IN" dirty="0"/>
        </a:p>
      </dgm:t>
    </dgm:pt>
    <dgm:pt modelId="{C09EFA02-6638-411C-86A9-FFF8510BC12C}" type="parTrans" cxnId="{7B8F34EC-A293-4764-8DA4-1508C11C1DCB}">
      <dgm:prSet/>
      <dgm:spPr/>
      <dgm:t>
        <a:bodyPr/>
        <a:lstStyle/>
        <a:p>
          <a:endParaRPr lang="en-IN"/>
        </a:p>
      </dgm:t>
    </dgm:pt>
    <dgm:pt modelId="{6FECF923-1EFE-4A07-BF0F-89B931A6E6B4}" type="sibTrans" cxnId="{7B8F34EC-A293-4764-8DA4-1508C11C1DCB}">
      <dgm:prSet/>
      <dgm:spPr/>
      <dgm:t>
        <a:bodyPr/>
        <a:lstStyle/>
        <a:p>
          <a:endParaRPr lang="en-IN"/>
        </a:p>
      </dgm:t>
    </dgm:pt>
    <dgm:pt modelId="{144B2EF6-9AFB-49F2-AA49-A2DB9AFB3D8B}">
      <dgm:prSet/>
      <dgm:spPr/>
      <dgm:t>
        <a:bodyPr/>
        <a:lstStyle/>
        <a:p>
          <a:r>
            <a:rPr lang="en-US" dirty="0"/>
            <a:t> DATA VISUALIZATION</a:t>
          </a:r>
          <a:endParaRPr lang="en-IN" dirty="0"/>
        </a:p>
      </dgm:t>
    </dgm:pt>
    <dgm:pt modelId="{D6C142B6-6F9B-4427-AC22-345EAFF771F1}" type="parTrans" cxnId="{D1F2033F-7ADF-409B-8D71-67D383F1E6E7}">
      <dgm:prSet/>
      <dgm:spPr/>
      <dgm:t>
        <a:bodyPr/>
        <a:lstStyle/>
        <a:p>
          <a:endParaRPr lang="en-IN"/>
        </a:p>
      </dgm:t>
    </dgm:pt>
    <dgm:pt modelId="{B28A774B-E3F9-453E-AB39-15170E585031}" type="sibTrans" cxnId="{D1F2033F-7ADF-409B-8D71-67D383F1E6E7}">
      <dgm:prSet/>
      <dgm:spPr/>
      <dgm:t>
        <a:bodyPr/>
        <a:lstStyle/>
        <a:p>
          <a:endParaRPr lang="en-IN"/>
        </a:p>
      </dgm:t>
    </dgm:pt>
    <dgm:pt modelId="{8B7E3CB0-3136-4862-AED9-8FEF0EAD1412}">
      <dgm:prSet/>
      <dgm:spPr/>
      <dgm:t>
        <a:bodyPr/>
        <a:lstStyle/>
        <a:p>
          <a:r>
            <a:rPr lang="en-US" dirty="0"/>
            <a:t> PRESENT FINAL INSIGHTS</a:t>
          </a:r>
          <a:endParaRPr lang="en-IN" dirty="0"/>
        </a:p>
      </dgm:t>
    </dgm:pt>
    <dgm:pt modelId="{5C921E8C-9AC3-4332-ACDB-05D691712702}" type="parTrans" cxnId="{C3255704-2E7C-4D0E-987A-6C82523B24C5}">
      <dgm:prSet/>
      <dgm:spPr/>
      <dgm:t>
        <a:bodyPr/>
        <a:lstStyle/>
        <a:p>
          <a:endParaRPr lang="en-IN"/>
        </a:p>
      </dgm:t>
    </dgm:pt>
    <dgm:pt modelId="{E23E7EAB-037E-45CC-8FEE-399E6E005755}" type="sibTrans" cxnId="{C3255704-2E7C-4D0E-987A-6C82523B24C5}">
      <dgm:prSet/>
      <dgm:spPr/>
      <dgm:t>
        <a:bodyPr/>
        <a:lstStyle/>
        <a:p>
          <a:endParaRPr lang="en-IN"/>
        </a:p>
      </dgm:t>
    </dgm:pt>
    <dgm:pt modelId="{D8B8F9CC-92C3-4A51-A4DB-CBB4C845673A}" type="pres">
      <dgm:prSet presAssocID="{418B0282-EDB0-4E07-BE44-2C5C161005AE}" presName="cycle" presStyleCnt="0">
        <dgm:presLayoutVars>
          <dgm:dir/>
          <dgm:resizeHandles val="exact"/>
        </dgm:presLayoutVars>
      </dgm:prSet>
      <dgm:spPr/>
    </dgm:pt>
    <dgm:pt modelId="{F104C6CE-5712-42D8-96CF-15D098FD128F}" type="pres">
      <dgm:prSet presAssocID="{F5A22F69-9675-40E8-9962-406066AD2346}" presName="node" presStyleLbl="node1" presStyleIdx="0" presStyleCnt="7">
        <dgm:presLayoutVars>
          <dgm:bulletEnabled val="1"/>
        </dgm:presLayoutVars>
      </dgm:prSet>
      <dgm:spPr/>
    </dgm:pt>
    <dgm:pt modelId="{53DD1689-41D5-4381-94B9-AA72F97DCCF2}" type="pres">
      <dgm:prSet presAssocID="{F5A22F69-9675-40E8-9962-406066AD2346}" presName="spNode" presStyleCnt="0"/>
      <dgm:spPr/>
    </dgm:pt>
    <dgm:pt modelId="{27C43E0E-3808-4EFF-BFF4-167A8FC3508A}" type="pres">
      <dgm:prSet presAssocID="{14235892-5B57-4B0E-84DF-2D45EEE531A5}" presName="sibTrans" presStyleLbl="sibTrans1D1" presStyleIdx="0" presStyleCnt="7"/>
      <dgm:spPr/>
    </dgm:pt>
    <dgm:pt modelId="{39CD0108-65C8-43B4-BEE0-60AE4E8A0B1A}" type="pres">
      <dgm:prSet presAssocID="{C2C98302-C5FD-4843-82F6-E655B6B3CB5C}" presName="node" presStyleLbl="node1" presStyleIdx="1" presStyleCnt="7">
        <dgm:presLayoutVars>
          <dgm:bulletEnabled val="1"/>
        </dgm:presLayoutVars>
      </dgm:prSet>
      <dgm:spPr/>
    </dgm:pt>
    <dgm:pt modelId="{9517FD4B-7C99-455E-ACA4-4A7CFA6D4693}" type="pres">
      <dgm:prSet presAssocID="{C2C98302-C5FD-4843-82F6-E655B6B3CB5C}" presName="spNode" presStyleCnt="0"/>
      <dgm:spPr/>
    </dgm:pt>
    <dgm:pt modelId="{66254013-CB3D-40F8-861A-0FDA530DF552}" type="pres">
      <dgm:prSet presAssocID="{F07B44D1-16F9-4992-B8DB-9BD9E4344FC8}" presName="sibTrans" presStyleLbl="sibTrans1D1" presStyleIdx="1" presStyleCnt="7"/>
      <dgm:spPr/>
    </dgm:pt>
    <dgm:pt modelId="{9F9E8B4E-22AD-4CD1-AD70-C9958E513500}" type="pres">
      <dgm:prSet presAssocID="{03574317-FD3C-4C9A-BA5F-15376FDCBF75}" presName="node" presStyleLbl="node1" presStyleIdx="2" presStyleCnt="7">
        <dgm:presLayoutVars>
          <dgm:bulletEnabled val="1"/>
        </dgm:presLayoutVars>
      </dgm:prSet>
      <dgm:spPr/>
    </dgm:pt>
    <dgm:pt modelId="{245B83D0-852D-4865-86CD-B5547E54D02A}" type="pres">
      <dgm:prSet presAssocID="{03574317-FD3C-4C9A-BA5F-15376FDCBF75}" presName="spNode" presStyleCnt="0"/>
      <dgm:spPr/>
    </dgm:pt>
    <dgm:pt modelId="{44A17887-A06B-4EBC-8AA8-414F5DDA011D}" type="pres">
      <dgm:prSet presAssocID="{375CC065-E402-4245-8EEB-4DD8A2BE8E0E}" presName="sibTrans" presStyleLbl="sibTrans1D1" presStyleIdx="2" presStyleCnt="7"/>
      <dgm:spPr/>
    </dgm:pt>
    <dgm:pt modelId="{B1C6938F-7F5A-4BA8-A81F-157C861B064F}" type="pres">
      <dgm:prSet presAssocID="{FBFDF318-9651-4E4A-837F-116AAD720CAD}" presName="node" presStyleLbl="node1" presStyleIdx="3" presStyleCnt="7">
        <dgm:presLayoutVars>
          <dgm:bulletEnabled val="1"/>
        </dgm:presLayoutVars>
      </dgm:prSet>
      <dgm:spPr/>
    </dgm:pt>
    <dgm:pt modelId="{D214F7D0-CC0D-4D3F-858A-38C6F2ED8071}" type="pres">
      <dgm:prSet presAssocID="{FBFDF318-9651-4E4A-837F-116AAD720CAD}" presName="spNode" presStyleCnt="0"/>
      <dgm:spPr/>
    </dgm:pt>
    <dgm:pt modelId="{26A7B968-9A34-4669-BD91-6EE0E74FDF5B}" type="pres">
      <dgm:prSet presAssocID="{DEC6BB5A-39DA-490F-85C7-D2A1F31DCB86}" presName="sibTrans" presStyleLbl="sibTrans1D1" presStyleIdx="3" presStyleCnt="7"/>
      <dgm:spPr/>
    </dgm:pt>
    <dgm:pt modelId="{A42F921D-63E9-4DD2-9A7C-41CC948A0AD2}" type="pres">
      <dgm:prSet presAssocID="{22465B5F-F9E5-47C1-8E6E-6287C92AB0D4}" presName="node" presStyleLbl="node1" presStyleIdx="4" presStyleCnt="7">
        <dgm:presLayoutVars>
          <dgm:bulletEnabled val="1"/>
        </dgm:presLayoutVars>
      </dgm:prSet>
      <dgm:spPr/>
    </dgm:pt>
    <dgm:pt modelId="{547B56EE-92E6-4EE1-8F2C-624D01C16EF6}" type="pres">
      <dgm:prSet presAssocID="{22465B5F-F9E5-47C1-8E6E-6287C92AB0D4}" presName="spNode" presStyleCnt="0"/>
      <dgm:spPr/>
    </dgm:pt>
    <dgm:pt modelId="{42CFA3A9-7E3A-4619-A728-11801D1AD5E6}" type="pres">
      <dgm:prSet presAssocID="{6FECF923-1EFE-4A07-BF0F-89B931A6E6B4}" presName="sibTrans" presStyleLbl="sibTrans1D1" presStyleIdx="4" presStyleCnt="7"/>
      <dgm:spPr/>
    </dgm:pt>
    <dgm:pt modelId="{CAE9D33C-2867-40CA-9DC0-048DB375A47A}" type="pres">
      <dgm:prSet presAssocID="{144B2EF6-9AFB-49F2-AA49-A2DB9AFB3D8B}" presName="node" presStyleLbl="node1" presStyleIdx="5" presStyleCnt="7">
        <dgm:presLayoutVars>
          <dgm:bulletEnabled val="1"/>
        </dgm:presLayoutVars>
      </dgm:prSet>
      <dgm:spPr/>
    </dgm:pt>
    <dgm:pt modelId="{F332310A-F579-4735-AA0E-42CF65F4D947}" type="pres">
      <dgm:prSet presAssocID="{144B2EF6-9AFB-49F2-AA49-A2DB9AFB3D8B}" presName="spNode" presStyleCnt="0"/>
      <dgm:spPr/>
    </dgm:pt>
    <dgm:pt modelId="{0B40C058-B9A4-4E83-8BBA-5CC400DD317F}" type="pres">
      <dgm:prSet presAssocID="{B28A774B-E3F9-453E-AB39-15170E585031}" presName="sibTrans" presStyleLbl="sibTrans1D1" presStyleIdx="5" presStyleCnt="7"/>
      <dgm:spPr/>
    </dgm:pt>
    <dgm:pt modelId="{A276EDD6-9965-4633-A5A0-1F1DE2B74C84}" type="pres">
      <dgm:prSet presAssocID="{8B7E3CB0-3136-4862-AED9-8FEF0EAD1412}" presName="node" presStyleLbl="node1" presStyleIdx="6" presStyleCnt="7">
        <dgm:presLayoutVars>
          <dgm:bulletEnabled val="1"/>
        </dgm:presLayoutVars>
      </dgm:prSet>
      <dgm:spPr/>
    </dgm:pt>
    <dgm:pt modelId="{84DD4185-491A-480B-8DAF-E602E3842108}" type="pres">
      <dgm:prSet presAssocID="{8B7E3CB0-3136-4862-AED9-8FEF0EAD1412}" presName="spNode" presStyleCnt="0"/>
      <dgm:spPr/>
    </dgm:pt>
    <dgm:pt modelId="{69AEF8DB-51D5-4DD3-8936-93B548B128DB}" type="pres">
      <dgm:prSet presAssocID="{E23E7EAB-037E-45CC-8FEE-399E6E005755}" presName="sibTrans" presStyleLbl="sibTrans1D1" presStyleIdx="6" presStyleCnt="7"/>
      <dgm:spPr/>
    </dgm:pt>
  </dgm:ptLst>
  <dgm:cxnLst>
    <dgm:cxn modelId="{6F9C1D03-04DE-4FDF-8426-7DDB68C46366}" type="presOf" srcId="{418B0282-EDB0-4E07-BE44-2C5C161005AE}" destId="{D8B8F9CC-92C3-4A51-A4DB-CBB4C845673A}" srcOrd="0" destOrd="0" presId="urn:microsoft.com/office/officeart/2005/8/layout/cycle6"/>
    <dgm:cxn modelId="{C3255704-2E7C-4D0E-987A-6C82523B24C5}" srcId="{418B0282-EDB0-4E07-BE44-2C5C161005AE}" destId="{8B7E3CB0-3136-4862-AED9-8FEF0EAD1412}" srcOrd="6" destOrd="0" parTransId="{5C921E8C-9AC3-4332-ACDB-05D691712702}" sibTransId="{E23E7EAB-037E-45CC-8FEE-399E6E005755}"/>
    <dgm:cxn modelId="{B84DDE05-696B-4B47-B364-BDE00B8FE310}" type="presOf" srcId="{6FECF923-1EFE-4A07-BF0F-89B931A6E6B4}" destId="{42CFA3A9-7E3A-4619-A728-11801D1AD5E6}" srcOrd="0" destOrd="0" presId="urn:microsoft.com/office/officeart/2005/8/layout/cycle6"/>
    <dgm:cxn modelId="{78654813-A061-4939-8815-0745D57838A0}" type="presOf" srcId="{C2C98302-C5FD-4843-82F6-E655B6B3CB5C}" destId="{39CD0108-65C8-43B4-BEE0-60AE4E8A0B1A}" srcOrd="0" destOrd="0" presId="urn:microsoft.com/office/officeart/2005/8/layout/cycle6"/>
    <dgm:cxn modelId="{04E52B17-6433-481D-A410-44C9CE674B9E}" srcId="{418B0282-EDB0-4E07-BE44-2C5C161005AE}" destId="{03574317-FD3C-4C9A-BA5F-15376FDCBF75}" srcOrd="2" destOrd="0" parTransId="{7D5283B8-9006-4761-8CD4-6508A4EBD4F2}" sibTransId="{375CC065-E402-4245-8EEB-4DD8A2BE8E0E}"/>
    <dgm:cxn modelId="{2CEB8821-7374-4BBF-B9ED-FCA0D388C447}" type="presOf" srcId="{144B2EF6-9AFB-49F2-AA49-A2DB9AFB3D8B}" destId="{CAE9D33C-2867-40CA-9DC0-048DB375A47A}" srcOrd="0" destOrd="0" presId="urn:microsoft.com/office/officeart/2005/8/layout/cycle6"/>
    <dgm:cxn modelId="{46443422-BD97-4191-BCE5-0E8B34F4C40C}" type="presOf" srcId="{F07B44D1-16F9-4992-B8DB-9BD9E4344FC8}" destId="{66254013-CB3D-40F8-861A-0FDA530DF552}" srcOrd="0" destOrd="0" presId="urn:microsoft.com/office/officeart/2005/8/layout/cycle6"/>
    <dgm:cxn modelId="{98724D23-4ADE-4D9F-9A76-EC28A5559909}" type="presOf" srcId="{375CC065-E402-4245-8EEB-4DD8A2BE8E0E}" destId="{44A17887-A06B-4EBC-8AA8-414F5DDA011D}" srcOrd="0" destOrd="0" presId="urn:microsoft.com/office/officeart/2005/8/layout/cycle6"/>
    <dgm:cxn modelId="{81BC2934-7D60-483C-85DE-D488B1F67683}" srcId="{418B0282-EDB0-4E07-BE44-2C5C161005AE}" destId="{FBFDF318-9651-4E4A-837F-116AAD720CAD}" srcOrd="3" destOrd="0" parTransId="{A77E9D36-C044-4E2D-A6C4-1DC2CC8000B9}" sibTransId="{DEC6BB5A-39DA-490F-85C7-D2A1F31DCB86}"/>
    <dgm:cxn modelId="{38A0E03E-A311-4ED5-B464-F8FC141D4925}" type="presOf" srcId="{22465B5F-F9E5-47C1-8E6E-6287C92AB0D4}" destId="{A42F921D-63E9-4DD2-9A7C-41CC948A0AD2}" srcOrd="0" destOrd="0" presId="urn:microsoft.com/office/officeart/2005/8/layout/cycle6"/>
    <dgm:cxn modelId="{D1F2033F-7ADF-409B-8D71-67D383F1E6E7}" srcId="{418B0282-EDB0-4E07-BE44-2C5C161005AE}" destId="{144B2EF6-9AFB-49F2-AA49-A2DB9AFB3D8B}" srcOrd="5" destOrd="0" parTransId="{D6C142B6-6F9B-4427-AC22-345EAFF771F1}" sibTransId="{B28A774B-E3F9-453E-AB39-15170E585031}"/>
    <dgm:cxn modelId="{40D9D547-F039-4DD9-BFE2-7E7209927817}" srcId="{418B0282-EDB0-4E07-BE44-2C5C161005AE}" destId="{F5A22F69-9675-40E8-9962-406066AD2346}" srcOrd="0" destOrd="0" parTransId="{9F5CDF76-2EC5-4B2A-A9A6-8ABBF17C1C0D}" sibTransId="{14235892-5B57-4B0E-84DF-2D45EEE531A5}"/>
    <dgm:cxn modelId="{017A244B-9EE7-419F-BFF0-8D92A3DEEF83}" type="presOf" srcId="{E23E7EAB-037E-45CC-8FEE-399E6E005755}" destId="{69AEF8DB-51D5-4DD3-8936-93B548B128DB}" srcOrd="0" destOrd="0" presId="urn:microsoft.com/office/officeart/2005/8/layout/cycle6"/>
    <dgm:cxn modelId="{752C004F-FE4C-448C-8856-F32CE63E41F1}" type="presOf" srcId="{8B7E3CB0-3136-4862-AED9-8FEF0EAD1412}" destId="{A276EDD6-9965-4633-A5A0-1F1DE2B74C84}" srcOrd="0" destOrd="0" presId="urn:microsoft.com/office/officeart/2005/8/layout/cycle6"/>
    <dgm:cxn modelId="{157E785A-216D-42A4-A2E2-4FDB16EE35BA}" srcId="{418B0282-EDB0-4E07-BE44-2C5C161005AE}" destId="{C2C98302-C5FD-4843-82F6-E655B6B3CB5C}" srcOrd="1" destOrd="0" parTransId="{F0F4F4A1-4089-46DC-A84C-5215F17A691D}" sibTransId="{F07B44D1-16F9-4992-B8DB-9BD9E4344FC8}"/>
    <dgm:cxn modelId="{C3A56586-2AED-4CCF-974B-96E22E1DBE68}" type="presOf" srcId="{03574317-FD3C-4C9A-BA5F-15376FDCBF75}" destId="{9F9E8B4E-22AD-4CD1-AD70-C9958E513500}" srcOrd="0" destOrd="0" presId="urn:microsoft.com/office/officeart/2005/8/layout/cycle6"/>
    <dgm:cxn modelId="{E3B37387-AE97-46BE-8A30-3ABA298F1A09}" type="presOf" srcId="{DEC6BB5A-39DA-490F-85C7-D2A1F31DCB86}" destId="{26A7B968-9A34-4669-BD91-6EE0E74FDF5B}" srcOrd="0" destOrd="0" presId="urn:microsoft.com/office/officeart/2005/8/layout/cycle6"/>
    <dgm:cxn modelId="{0A1B239B-E2D9-438B-AD98-EB988397A917}" type="presOf" srcId="{B28A774B-E3F9-453E-AB39-15170E585031}" destId="{0B40C058-B9A4-4E83-8BBA-5CC400DD317F}" srcOrd="0" destOrd="0" presId="urn:microsoft.com/office/officeart/2005/8/layout/cycle6"/>
    <dgm:cxn modelId="{325CD4B1-9839-4629-B068-E1BEF6C9F19C}" type="presOf" srcId="{14235892-5B57-4B0E-84DF-2D45EEE531A5}" destId="{27C43E0E-3808-4EFF-BFF4-167A8FC3508A}" srcOrd="0" destOrd="0" presId="urn:microsoft.com/office/officeart/2005/8/layout/cycle6"/>
    <dgm:cxn modelId="{7B8F34EC-A293-4764-8DA4-1508C11C1DCB}" srcId="{418B0282-EDB0-4E07-BE44-2C5C161005AE}" destId="{22465B5F-F9E5-47C1-8E6E-6287C92AB0D4}" srcOrd="4" destOrd="0" parTransId="{C09EFA02-6638-411C-86A9-FFF8510BC12C}" sibTransId="{6FECF923-1EFE-4A07-BF0F-89B931A6E6B4}"/>
    <dgm:cxn modelId="{37A894F4-614F-4D10-9E9F-4E160F336567}" type="presOf" srcId="{FBFDF318-9651-4E4A-837F-116AAD720CAD}" destId="{B1C6938F-7F5A-4BA8-A81F-157C861B064F}" srcOrd="0" destOrd="0" presId="urn:microsoft.com/office/officeart/2005/8/layout/cycle6"/>
    <dgm:cxn modelId="{859F5FFB-D3CA-40F6-8DCC-2F43CD50AC28}" type="presOf" srcId="{F5A22F69-9675-40E8-9962-406066AD2346}" destId="{F104C6CE-5712-42D8-96CF-15D098FD128F}" srcOrd="0" destOrd="0" presId="urn:microsoft.com/office/officeart/2005/8/layout/cycle6"/>
    <dgm:cxn modelId="{95E8146A-A3EF-4C30-AB08-8B56C20BA281}" type="presParOf" srcId="{D8B8F9CC-92C3-4A51-A4DB-CBB4C845673A}" destId="{F104C6CE-5712-42D8-96CF-15D098FD128F}" srcOrd="0" destOrd="0" presId="urn:microsoft.com/office/officeart/2005/8/layout/cycle6"/>
    <dgm:cxn modelId="{7B62A417-90A7-4BEB-8399-89840239ADF7}" type="presParOf" srcId="{D8B8F9CC-92C3-4A51-A4DB-CBB4C845673A}" destId="{53DD1689-41D5-4381-94B9-AA72F97DCCF2}" srcOrd="1" destOrd="0" presId="urn:microsoft.com/office/officeart/2005/8/layout/cycle6"/>
    <dgm:cxn modelId="{F040D702-6219-4ACF-99F1-65C9B051DE76}" type="presParOf" srcId="{D8B8F9CC-92C3-4A51-A4DB-CBB4C845673A}" destId="{27C43E0E-3808-4EFF-BFF4-167A8FC3508A}" srcOrd="2" destOrd="0" presId="urn:microsoft.com/office/officeart/2005/8/layout/cycle6"/>
    <dgm:cxn modelId="{77300458-B0F0-4B53-BC26-878E6365B279}" type="presParOf" srcId="{D8B8F9CC-92C3-4A51-A4DB-CBB4C845673A}" destId="{39CD0108-65C8-43B4-BEE0-60AE4E8A0B1A}" srcOrd="3" destOrd="0" presId="urn:microsoft.com/office/officeart/2005/8/layout/cycle6"/>
    <dgm:cxn modelId="{FF9389CF-25FA-4721-AE40-0E20F1963D72}" type="presParOf" srcId="{D8B8F9CC-92C3-4A51-A4DB-CBB4C845673A}" destId="{9517FD4B-7C99-455E-ACA4-4A7CFA6D4693}" srcOrd="4" destOrd="0" presId="urn:microsoft.com/office/officeart/2005/8/layout/cycle6"/>
    <dgm:cxn modelId="{7C83C813-D667-4A62-B3BB-0C49B466520B}" type="presParOf" srcId="{D8B8F9CC-92C3-4A51-A4DB-CBB4C845673A}" destId="{66254013-CB3D-40F8-861A-0FDA530DF552}" srcOrd="5" destOrd="0" presId="urn:microsoft.com/office/officeart/2005/8/layout/cycle6"/>
    <dgm:cxn modelId="{674C7476-9C16-4FCA-8001-90DF41E769E6}" type="presParOf" srcId="{D8B8F9CC-92C3-4A51-A4DB-CBB4C845673A}" destId="{9F9E8B4E-22AD-4CD1-AD70-C9958E513500}" srcOrd="6" destOrd="0" presId="urn:microsoft.com/office/officeart/2005/8/layout/cycle6"/>
    <dgm:cxn modelId="{5F7B99AA-BAE7-4523-8B22-11BA1D87DFC5}" type="presParOf" srcId="{D8B8F9CC-92C3-4A51-A4DB-CBB4C845673A}" destId="{245B83D0-852D-4865-86CD-B5547E54D02A}" srcOrd="7" destOrd="0" presId="urn:microsoft.com/office/officeart/2005/8/layout/cycle6"/>
    <dgm:cxn modelId="{DF4141F1-5333-4CD5-859C-999AD36860CE}" type="presParOf" srcId="{D8B8F9CC-92C3-4A51-A4DB-CBB4C845673A}" destId="{44A17887-A06B-4EBC-8AA8-414F5DDA011D}" srcOrd="8" destOrd="0" presId="urn:microsoft.com/office/officeart/2005/8/layout/cycle6"/>
    <dgm:cxn modelId="{8F0FDB39-013F-45BE-BA99-9A459AB03C6D}" type="presParOf" srcId="{D8B8F9CC-92C3-4A51-A4DB-CBB4C845673A}" destId="{B1C6938F-7F5A-4BA8-A81F-157C861B064F}" srcOrd="9" destOrd="0" presId="urn:microsoft.com/office/officeart/2005/8/layout/cycle6"/>
    <dgm:cxn modelId="{AFE301E7-3E1C-49A9-92D5-42398731425A}" type="presParOf" srcId="{D8B8F9CC-92C3-4A51-A4DB-CBB4C845673A}" destId="{D214F7D0-CC0D-4D3F-858A-38C6F2ED8071}" srcOrd="10" destOrd="0" presId="urn:microsoft.com/office/officeart/2005/8/layout/cycle6"/>
    <dgm:cxn modelId="{27BDE796-B323-4325-9AC0-C5320CE70408}" type="presParOf" srcId="{D8B8F9CC-92C3-4A51-A4DB-CBB4C845673A}" destId="{26A7B968-9A34-4669-BD91-6EE0E74FDF5B}" srcOrd="11" destOrd="0" presId="urn:microsoft.com/office/officeart/2005/8/layout/cycle6"/>
    <dgm:cxn modelId="{275DCF8B-76C5-4531-9029-B2E4132CE42D}" type="presParOf" srcId="{D8B8F9CC-92C3-4A51-A4DB-CBB4C845673A}" destId="{A42F921D-63E9-4DD2-9A7C-41CC948A0AD2}" srcOrd="12" destOrd="0" presId="urn:microsoft.com/office/officeart/2005/8/layout/cycle6"/>
    <dgm:cxn modelId="{A6E4F45B-7DD8-4733-AEFB-8248BF1C3C5D}" type="presParOf" srcId="{D8B8F9CC-92C3-4A51-A4DB-CBB4C845673A}" destId="{547B56EE-92E6-4EE1-8F2C-624D01C16EF6}" srcOrd="13" destOrd="0" presId="urn:microsoft.com/office/officeart/2005/8/layout/cycle6"/>
    <dgm:cxn modelId="{4790A624-5700-43A5-BED3-85FAA4062651}" type="presParOf" srcId="{D8B8F9CC-92C3-4A51-A4DB-CBB4C845673A}" destId="{42CFA3A9-7E3A-4619-A728-11801D1AD5E6}" srcOrd="14" destOrd="0" presId="urn:microsoft.com/office/officeart/2005/8/layout/cycle6"/>
    <dgm:cxn modelId="{EE5A2006-FE54-4430-8489-11AB4F7AE6B1}" type="presParOf" srcId="{D8B8F9CC-92C3-4A51-A4DB-CBB4C845673A}" destId="{CAE9D33C-2867-40CA-9DC0-048DB375A47A}" srcOrd="15" destOrd="0" presId="urn:microsoft.com/office/officeart/2005/8/layout/cycle6"/>
    <dgm:cxn modelId="{D23363A0-EE9E-4AC9-A31F-C45A17F84969}" type="presParOf" srcId="{D8B8F9CC-92C3-4A51-A4DB-CBB4C845673A}" destId="{F332310A-F579-4735-AA0E-42CF65F4D947}" srcOrd="16" destOrd="0" presId="urn:microsoft.com/office/officeart/2005/8/layout/cycle6"/>
    <dgm:cxn modelId="{F89F8E19-C4F8-4E04-AD66-6EC9B3990C77}" type="presParOf" srcId="{D8B8F9CC-92C3-4A51-A4DB-CBB4C845673A}" destId="{0B40C058-B9A4-4E83-8BBA-5CC400DD317F}" srcOrd="17" destOrd="0" presId="urn:microsoft.com/office/officeart/2005/8/layout/cycle6"/>
    <dgm:cxn modelId="{2149798A-052F-4F89-80C2-C6C2231EC71A}" type="presParOf" srcId="{D8B8F9CC-92C3-4A51-A4DB-CBB4C845673A}" destId="{A276EDD6-9965-4633-A5A0-1F1DE2B74C84}" srcOrd="18" destOrd="0" presId="urn:microsoft.com/office/officeart/2005/8/layout/cycle6"/>
    <dgm:cxn modelId="{4F18B16C-3AC9-4C9A-8B0D-1C8117E8205D}" type="presParOf" srcId="{D8B8F9CC-92C3-4A51-A4DB-CBB4C845673A}" destId="{84DD4185-491A-480B-8DAF-E602E3842108}" srcOrd="19" destOrd="0" presId="urn:microsoft.com/office/officeart/2005/8/layout/cycle6"/>
    <dgm:cxn modelId="{2BFC4B24-C4C9-433E-9E3C-CA7F2F03E65B}" type="presParOf" srcId="{D8B8F9CC-92C3-4A51-A4DB-CBB4C845673A}" destId="{69AEF8DB-51D5-4DD3-8936-93B548B128DB}" srcOrd="20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04C6CE-5712-42D8-96CF-15D098FD128F}">
      <dsp:nvSpPr>
        <dsp:cNvPr id="0" name=""/>
        <dsp:cNvSpPr/>
      </dsp:nvSpPr>
      <dsp:spPr>
        <a:xfrm>
          <a:off x="2749320" y="1513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</a:t>
          </a:r>
          <a:r>
            <a:rPr lang="en-US" sz="800" b="1" kern="1200" dirty="0"/>
            <a:t>COLLECTION OF DATA</a:t>
          </a:r>
          <a:endParaRPr lang="en-IN" sz="800" b="1" kern="1200" dirty="0"/>
        </a:p>
      </dsp:txBody>
      <dsp:txXfrm>
        <a:off x="2784419" y="36612"/>
        <a:ext cx="1035980" cy="648817"/>
      </dsp:txXfrm>
    </dsp:sp>
    <dsp:sp modelId="{27C43E0E-3808-4EFF-BFF4-167A8FC3508A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2614064" y="77947"/>
              </a:moveTo>
              <a:arcTo wR="2053640" hR="2053640" stAng="17150189" swAng="125755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CD0108-65C8-43B4-BEE0-60AE4E8A0B1A}">
      <dsp:nvSpPr>
        <dsp:cNvPr id="0" name=""/>
        <dsp:cNvSpPr/>
      </dsp:nvSpPr>
      <dsp:spPr>
        <a:xfrm>
          <a:off x="4354921" y="774730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UNDERSTANDING DATA AND BUSINESS PROBLEM</a:t>
          </a:r>
          <a:endParaRPr lang="en-IN" sz="800" kern="1200" dirty="0"/>
        </a:p>
      </dsp:txBody>
      <dsp:txXfrm>
        <a:off x="4390020" y="809829"/>
        <a:ext cx="1035980" cy="648817"/>
      </dsp:txXfrm>
    </dsp:sp>
    <dsp:sp modelId="{66254013-CB3D-40F8-861A-0FDA530DF552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3893865" y="1142040"/>
              </a:moveTo>
              <a:arcTo wR="2053640" hR="2053640" stAng="20018842" swAng="17269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9E8B4E-22AD-4CD1-AD70-C9958E513500}">
      <dsp:nvSpPr>
        <dsp:cNvPr id="0" name=""/>
        <dsp:cNvSpPr/>
      </dsp:nvSpPr>
      <dsp:spPr>
        <a:xfrm>
          <a:off x="4751472" y="2512132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DATA CLEANING</a:t>
          </a:r>
          <a:endParaRPr lang="en-IN" sz="800" kern="1200" dirty="0"/>
        </a:p>
      </dsp:txBody>
      <dsp:txXfrm>
        <a:off x="4786571" y="2547231"/>
        <a:ext cx="1035980" cy="648817"/>
      </dsp:txXfrm>
    </dsp:sp>
    <dsp:sp modelId="{44A17887-A06B-4EBC-8AA8-414F5DDA011D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3934707" y="2877671"/>
              </a:moveTo>
              <a:arcTo wR="2053640" hR="2053640" stAng="1419395" swAng="1359505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C6938F-7F5A-4BA8-A81F-157C861B064F}">
      <dsp:nvSpPr>
        <dsp:cNvPr id="0" name=""/>
        <dsp:cNvSpPr/>
      </dsp:nvSpPr>
      <dsp:spPr>
        <a:xfrm>
          <a:off x="3640362" y="3905421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DATA TRANSFORMATION</a:t>
          </a:r>
          <a:endParaRPr lang="en-IN" sz="800" kern="1200" dirty="0"/>
        </a:p>
      </dsp:txBody>
      <dsp:txXfrm>
        <a:off x="3675461" y="3940520"/>
        <a:ext cx="1035980" cy="648817"/>
      </dsp:txXfrm>
    </dsp:sp>
    <dsp:sp modelId="{26A7B968-9A34-4669-BD91-6EE0E74FDF5B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2384924" y="4080384"/>
              </a:moveTo>
              <a:arcTo wR="2053640" hR="2053640" stAng="4843005" swAng="1113989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F921D-63E9-4DD2-9A7C-41CC948A0AD2}">
      <dsp:nvSpPr>
        <dsp:cNvPr id="0" name=""/>
        <dsp:cNvSpPr/>
      </dsp:nvSpPr>
      <dsp:spPr>
        <a:xfrm>
          <a:off x="1858279" y="3905421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EXPLORATORY DATA ANALYSIS</a:t>
          </a:r>
          <a:endParaRPr lang="en-IN" sz="800" kern="1200" dirty="0"/>
        </a:p>
      </dsp:txBody>
      <dsp:txXfrm>
        <a:off x="1893378" y="3940520"/>
        <a:ext cx="1035980" cy="648817"/>
      </dsp:txXfrm>
    </dsp:sp>
    <dsp:sp modelId="{42CFA3A9-7E3A-4619-A728-11801D1AD5E6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635205" y="3538726"/>
              </a:moveTo>
              <a:arcTo wR="2053640" hR="2053640" stAng="8021100" swAng="1359505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E9D33C-2867-40CA-9DC0-048DB375A47A}">
      <dsp:nvSpPr>
        <dsp:cNvPr id="0" name=""/>
        <dsp:cNvSpPr/>
      </dsp:nvSpPr>
      <dsp:spPr>
        <a:xfrm>
          <a:off x="747169" y="2512132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DATA VISUALIZATION</a:t>
          </a:r>
          <a:endParaRPr lang="en-IN" sz="800" kern="1200" dirty="0"/>
        </a:p>
      </dsp:txBody>
      <dsp:txXfrm>
        <a:off x="782268" y="2547231"/>
        <a:ext cx="1035980" cy="648817"/>
      </dsp:txXfrm>
    </dsp:sp>
    <dsp:sp modelId="{0B40C058-B9A4-4E83-8BBA-5CC400DD317F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1846" y="2140711"/>
              </a:moveTo>
              <a:arcTo wR="2053640" hR="2053640" stAng="10654202" swAng="172695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76EDD6-9965-4633-A5A0-1F1DE2B74C84}">
      <dsp:nvSpPr>
        <dsp:cNvPr id="0" name=""/>
        <dsp:cNvSpPr/>
      </dsp:nvSpPr>
      <dsp:spPr>
        <a:xfrm>
          <a:off x="1143719" y="774730"/>
          <a:ext cx="1106178" cy="719015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14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0000"/>
                <a:lumMod val="8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4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 PRESENT FINAL INSIGHTS</a:t>
          </a:r>
          <a:endParaRPr lang="en-IN" sz="800" kern="1200" dirty="0"/>
        </a:p>
      </dsp:txBody>
      <dsp:txXfrm>
        <a:off x="1178818" y="809829"/>
        <a:ext cx="1035980" cy="648817"/>
      </dsp:txXfrm>
    </dsp:sp>
    <dsp:sp modelId="{69AEF8DB-51D5-4DD3-8936-93B548B128DB}">
      <dsp:nvSpPr>
        <dsp:cNvPr id="0" name=""/>
        <dsp:cNvSpPr/>
      </dsp:nvSpPr>
      <dsp:spPr>
        <a:xfrm>
          <a:off x="1248769" y="361021"/>
          <a:ext cx="4107281" cy="4107281"/>
        </a:xfrm>
        <a:custGeom>
          <a:avLst/>
          <a:gdLst/>
          <a:ahLst/>
          <a:cxnLst/>
          <a:rect l="0" t="0" r="0" b="0"/>
          <a:pathLst>
            <a:path>
              <a:moveTo>
                <a:pt x="823585" y="409133"/>
              </a:moveTo>
              <a:arcTo wR="2053640" hR="2053640" stAng="13992260" swAng="1257551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417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6675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211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364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237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221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017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340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1614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1498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1129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4436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5447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5887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018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6081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397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E99109-CFCB-4335-A32E-C67321F1840A}" type="datetimeFigureOut">
              <a:rPr lang="en-IN" smtClean="0"/>
              <a:t>19-04-2026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B1554C-46C5-45ED-9AC7-8E6228D0DD8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8830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B56411-3776-8FEA-ACC2-6F37D44C99B5}"/>
              </a:ext>
            </a:extLst>
          </p:cNvPr>
          <p:cNvSpPr txBox="1"/>
          <p:nvPr/>
        </p:nvSpPr>
        <p:spPr>
          <a:xfrm>
            <a:off x="1002891" y="3136612"/>
            <a:ext cx="104361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Bodoni MT Black" panose="02070A03080606020203" pitchFamily="18" charset="0"/>
              </a:rPr>
              <a:t>EMPLOYEE SALARY ANALYSIS USING EXCEL </a:t>
            </a:r>
          </a:p>
        </p:txBody>
      </p:sp>
    </p:spTree>
    <p:extLst>
      <p:ext uri="{BB962C8B-B14F-4D97-AF65-F5344CB8AC3E}">
        <p14:creationId xmlns:p14="http://schemas.microsoft.com/office/powerpoint/2010/main" val="1338031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391380-E643-B658-FE44-8020447D34A3}"/>
              </a:ext>
            </a:extLst>
          </p:cNvPr>
          <p:cNvSpPr txBox="1"/>
          <p:nvPr/>
        </p:nvSpPr>
        <p:spPr>
          <a:xfrm>
            <a:off x="570271" y="1710814"/>
            <a:ext cx="51625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ABOUT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503D2-504E-52BB-9BF4-0565DE0FA50C}"/>
              </a:ext>
            </a:extLst>
          </p:cNvPr>
          <p:cNvSpPr txBox="1"/>
          <p:nvPr/>
        </p:nvSpPr>
        <p:spPr>
          <a:xfrm>
            <a:off x="2386113" y="2615273"/>
            <a:ext cx="9635971" cy="1286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This project focuses on analyzing employee salary data across different departments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using Excel. The main goal is to understand how salaries vary between departments</a:t>
            </a:r>
          </a:p>
          <a:p>
            <a:pPr algn="just">
              <a:lnSpc>
                <a:spcPct val="150000"/>
              </a:lnSpc>
            </a:pPr>
            <a:r>
              <a:rPr lang="en-US" dirty="0"/>
              <a:t>and identify patterns or trends in income distribution.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446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545FAE-B4BC-688E-CF32-7AE4D66870FD}"/>
              </a:ext>
            </a:extLst>
          </p:cNvPr>
          <p:cNvSpPr txBox="1"/>
          <p:nvPr/>
        </p:nvSpPr>
        <p:spPr>
          <a:xfrm>
            <a:off x="1071716" y="1435510"/>
            <a:ext cx="179247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cap="all" dirty="0">
                <a:latin typeface="Corbel" panose="020B0503020204020204" pitchFamily="34" charset="0"/>
              </a:rPr>
              <a:t>PROCESS </a:t>
            </a:r>
            <a:endParaRPr lang="en-IN" sz="2800" b="1" dirty="0"/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DC107-93F2-67CF-9FF4-A4A526E84EFA}"/>
              </a:ext>
            </a:extLst>
          </p:cNvPr>
          <p:cNvSpPr txBox="1"/>
          <p:nvPr/>
        </p:nvSpPr>
        <p:spPr>
          <a:xfrm>
            <a:off x="2713703" y="2183139"/>
            <a:ext cx="732283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Checked dataset structure (features, data types, null values)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Identified and handled missing data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Verified unique values using filters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Removed duplicate records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Segmented data based on key features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Grouped data using Pivot Tables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Created charts for visualization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patterns and trends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9560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030920-EDC1-436A-08F7-9E587214C841}"/>
              </a:ext>
            </a:extLst>
          </p:cNvPr>
          <p:cNvSpPr txBox="1"/>
          <p:nvPr/>
        </p:nvSpPr>
        <p:spPr>
          <a:xfrm>
            <a:off x="470098" y="1071714"/>
            <a:ext cx="591553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OF DATA ANALYSIS</a:t>
            </a:r>
          </a:p>
          <a:p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BE509AA-138C-FF23-422C-083B6E033C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0006401"/>
              </p:ext>
            </p:extLst>
          </p:nvPr>
        </p:nvGraphicFramePr>
        <p:xfrm>
          <a:off x="3083218" y="1871933"/>
          <a:ext cx="6604820" cy="46259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05780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8007F6-A15C-3EF8-3DAB-AE52A0436DB2}"/>
              </a:ext>
            </a:extLst>
          </p:cNvPr>
          <p:cNvSpPr txBox="1"/>
          <p:nvPr/>
        </p:nvSpPr>
        <p:spPr>
          <a:xfrm>
            <a:off x="580104" y="12901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collection of data</a:t>
            </a:r>
            <a:endParaRPr lang="en-IN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FBDB22-EAA2-F867-4032-1ADA188F9379}"/>
              </a:ext>
            </a:extLst>
          </p:cNvPr>
          <p:cNvSpPr txBox="1"/>
          <p:nvPr/>
        </p:nvSpPr>
        <p:spPr>
          <a:xfrm>
            <a:off x="2993597" y="1949016"/>
            <a:ext cx="6096000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ts val="1800"/>
              <a:buFont typeface="Arial" panose="020B0604020202020204" pitchFamily="34" charset="0"/>
              <a:buChar char="•"/>
            </a:pPr>
            <a:r>
              <a:rPr lang="en-US" dirty="0"/>
              <a:t>Collected this data from Kaggle by checking their      rows , columns and null values.</a:t>
            </a:r>
          </a:p>
          <a:p>
            <a:pPr>
              <a:lnSpc>
                <a:spcPct val="150000"/>
              </a:lnSpc>
              <a:buSzPts val="1800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428F2E-240A-3280-FE17-15BAAB69FB1B}"/>
              </a:ext>
            </a:extLst>
          </p:cNvPr>
          <p:cNvSpPr txBox="1"/>
          <p:nvPr/>
        </p:nvSpPr>
        <p:spPr>
          <a:xfrm>
            <a:off x="580104" y="3109216"/>
            <a:ext cx="93047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DATA AND BUSINESS PROBLEM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DDA43E0-0A03-D3E6-424A-946B800FD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0746" y="3504144"/>
            <a:ext cx="7447873" cy="2809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analyze employee salary data using Excel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understand salary distribution across different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compare average salaries between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identify patterns and trends in compensation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create interactive dashboards using Pivot Tables and charts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generate meaningful insights for better decision-making </a:t>
            </a:r>
          </a:p>
        </p:txBody>
      </p:sp>
    </p:spTree>
    <p:extLst>
      <p:ext uri="{BB962C8B-B14F-4D97-AF65-F5344CB8AC3E}">
        <p14:creationId xmlns:p14="http://schemas.microsoft.com/office/powerpoint/2010/main" val="1385796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77876B-33A8-BF76-E10E-23F25D8FA894}"/>
              </a:ext>
            </a:extLst>
          </p:cNvPr>
          <p:cNvSpPr txBox="1"/>
          <p:nvPr/>
        </p:nvSpPr>
        <p:spPr>
          <a:xfrm>
            <a:off x="727587" y="115252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E9880-FB2D-47E2-A3E4-B12DED2260D1}"/>
              </a:ext>
            </a:extLst>
          </p:cNvPr>
          <p:cNvSpPr txBox="1"/>
          <p:nvPr/>
        </p:nvSpPr>
        <p:spPr>
          <a:xfrm>
            <a:off x="3116826" y="1843196"/>
            <a:ext cx="6096000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for null values            -       No null values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for duplicates            -      No duplicates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Checked rows and columns    -  R – 1200    C- 17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DAEDB4-02E4-2F48-348D-316916D8176F}"/>
              </a:ext>
            </a:extLst>
          </p:cNvPr>
          <p:cNvSpPr txBox="1"/>
          <p:nvPr/>
        </p:nvSpPr>
        <p:spPr>
          <a:xfrm>
            <a:off x="727587" y="346700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DCA9D-3013-9A13-D57A-A3BF1662C4F8}"/>
              </a:ext>
            </a:extLst>
          </p:cNvPr>
          <p:cNvSpPr txBox="1"/>
          <p:nvPr/>
        </p:nvSpPr>
        <p:spPr>
          <a:xfrm>
            <a:off x="3116826" y="4327856"/>
            <a:ext cx="6096000" cy="170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Dataset prepared for analysis.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Features made easier to understand and compare.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Ready for visualization and further analysis.</a:t>
            </a:r>
          </a:p>
        </p:txBody>
      </p:sp>
    </p:spTree>
    <p:extLst>
      <p:ext uri="{BB962C8B-B14F-4D97-AF65-F5344CB8AC3E}">
        <p14:creationId xmlns:p14="http://schemas.microsoft.com/office/powerpoint/2010/main" val="2481173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BD978-E196-B4D3-0001-3F9103C08868}"/>
              </a:ext>
            </a:extLst>
          </p:cNvPr>
          <p:cNvSpPr txBox="1"/>
          <p:nvPr/>
        </p:nvSpPr>
        <p:spPr>
          <a:xfrm>
            <a:off x="678425" y="149572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en-IN" sz="2800" b="1" kern="1200" cap="all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67538F2-733F-21B6-BC55-9B21B4446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960" y="2018942"/>
            <a:ext cx="7393371" cy="405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Performed data cleaning (handled null values and duplicates)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Explored dataset using filters and sorting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Analyzed unique values in each feature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Segmented data based on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Used Pivot Tables for grouping and summarization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Calculated average salary by department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Compared salary distribution across categories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Created charts (bar chart, pie chart) for visualization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Identified patterns and trends in salary data </a:t>
            </a:r>
          </a:p>
        </p:txBody>
      </p:sp>
    </p:spTree>
    <p:extLst>
      <p:ext uri="{BB962C8B-B14F-4D97-AF65-F5344CB8AC3E}">
        <p14:creationId xmlns:p14="http://schemas.microsoft.com/office/powerpoint/2010/main" val="118613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35A713-6134-053A-38B0-F5EA5F82F8FA}"/>
              </a:ext>
            </a:extLst>
          </p:cNvPr>
          <p:cNvSpPr txBox="1"/>
          <p:nvPr/>
        </p:nvSpPr>
        <p:spPr>
          <a:xfrm>
            <a:off x="2388927" y="3018504"/>
            <a:ext cx="7414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Bodoni MT Black" panose="02070A03080606020203" pitchFamily="18" charset="0"/>
              </a:rPr>
              <a:t>ANALYSIS AND VISUALIZATION </a:t>
            </a:r>
          </a:p>
        </p:txBody>
      </p:sp>
    </p:spTree>
    <p:extLst>
      <p:ext uri="{BB962C8B-B14F-4D97-AF65-F5344CB8AC3E}">
        <p14:creationId xmlns:p14="http://schemas.microsoft.com/office/powerpoint/2010/main" val="2216685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41578DD7-9EB6-4186-98DF-35C0089EB0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6084160"/>
              </p:ext>
            </p:extLst>
          </p:nvPr>
        </p:nvGraphicFramePr>
        <p:xfrm>
          <a:off x="951732" y="416644"/>
          <a:ext cx="4149068" cy="287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9F5C19B2-3D28-6803-E16B-3EBD981E6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65" y="3518319"/>
            <a:ext cx="6035627" cy="1522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Finance department has the highest average salary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HR department shows the second highest average salary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Marketing follows closely after HR 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department has the lowest average salary 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4F5789-3CE5-4E0E-BEC0-9D86F34F3D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8235401"/>
              </p:ext>
            </p:extLst>
          </p:nvPr>
        </p:nvGraphicFramePr>
        <p:xfrm>
          <a:off x="7209188" y="416644"/>
          <a:ext cx="4304385" cy="2871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BEC7DB6-8FFB-0BF0-A353-9DCE20684EFF}"/>
              </a:ext>
            </a:extLst>
          </p:cNvPr>
          <p:cNvSpPr txBox="1"/>
          <p:nvPr/>
        </p:nvSpPr>
        <p:spPr>
          <a:xfrm>
            <a:off x="7212292" y="3429000"/>
            <a:ext cx="4783682" cy="2630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Part-time employees has highest count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Contract type employees shows the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second highest count which follows closely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to part-time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Compare to part-time and contract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employees Full-time employees has lowest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count</a:t>
            </a:r>
          </a:p>
        </p:txBody>
      </p:sp>
    </p:spTree>
    <p:extLst>
      <p:ext uri="{BB962C8B-B14F-4D97-AF65-F5344CB8AC3E}">
        <p14:creationId xmlns:p14="http://schemas.microsoft.com/office/powerpoint/2010/main" val="3661766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29B201E3-377B-4729-9C4A-2E117E4E51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7619252"/>
              </p:ext>
            </p:extLst>
          </p:nvPr>
        </p:nvGraphicFramePr>
        <p:xfrm>
          <a:off x="629060" y="468736"/>
          <a:ext cx="5299791" cy="2479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D7BF624-25C5-452B-9A79-E5ECA75074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2955464"/>
              </p:ext>
            </p:extLst>
          </p:nvPr>
        </p:nvGraphicFramePr>
        <p:xfrm>
          <a:off x="6440128" y="468736"/>
          <a:ext cx="5230761" cy="24792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FBE9A77-8C91-F006-8447-E308ADFC5961}"/>
              </a:ext>
            </a:extLst>
          </p:cNvPr>
          <p:cNvSpPr txBox="1"/>
          <p:nvPr/>
        </p:nvSpPr>
        <p:spPr>
          <a:xfrm>
            <a:off x="629060" y="3142916"/>
            <a:ext cx="6155197" cy="33695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Employees who have completed PHD has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the highest count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Employees who have completed MASTER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Degree has second highest count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Employees who have completed BACHELOR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Degree has third highest count which follows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closely to MASTER Degree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Employees who have completed HIGH SCHOOL 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has lowest count of employees compare to others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666915-2380-DFC9-4BAD-09EB1DC50AB7}"/>
              </a:ext>
            </a:extLst>
          </p:cNvPr>
          <p:cNvSpPr txBox="1"/>
          <p:nvPr/>
        </p:nvSpPr>
        <p:spPr>
          <a:xfrm>
            <a:off x="7208100" y="3151045"/>
            <a:ext cx="4668266" cy="3369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FINANCE Department has the highest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average performance score at 5.0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HR Department has the second highest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average performance score at 4.96 which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is closely to finance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MARKETING Department has third highest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average performance score at 4.9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IT Department has the lowest score at 4.8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compare to others</a:t>
            </a:r>
          </a:p>
        </p:txBody>
      </p:sp>
    </p:spTree>
    <p:extLst>
      <p:ext uri="{BB962C8B-B14F-4D97-AF65-F5344CB8AC3E}">
        <p14:creationId xmlns:p14="http://schemas.microsoft.com/office/powerpoint/2010/main" val="2394881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61AD04E-B06A-40D7-8D81-B5F54C0D07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445778"/>
              </p:ext>
            </p:extLst>
          </p:nvPr>
        </p:nvGraphicFramePr>
        <p:xfrm>
          <a:off x="831526" y="488423"/>
          <a:ext cx="4785002" cy="2262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724E298-EF00-4DC3-8948-3E4C15CB33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89205970"/>
              </p:ext>
            </p:extLst>
          </p:nvPr>
        </p:nvGraphicFramePr>
        <p:xfrm>
          <a:off x="6575471" y="488423"/>
          <a:ext cx="4785003" cy="22628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46C55B-512B-4635-2D04-ACE083215151}"/>
              </a:ext>
            </a:extLst>
          </p:cNvPr>
          <p:cNvSpPr txBox="1"/>
          <p:nvPr/>
        </p:nvSpPr>
        <p:spPr>
          <a:xfrm>
            <a:off x="753138" y="3086170"/>
            <a:ext cx="5599610" cy="26308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HR Department has the highest count of employes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IT Department has the second highest count of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employees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MARKETING Department has the third highest count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of employees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FINANCE Department has the lowest count of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employees compare to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0A93ED-80AC-9B17-BA53-32AD573C5AB3}"/>
              </a:ext>
            </a:extLst>
          </p:cNvPr>
          <p:cNvSpPr txBox="1"/>
          <p:nvPr/>
        </p:nvSpPr>
        <p:spPr>
          <a:xfrm>
            <a:off x="7135807" y="3086170"/>
            <a:ext cx="4783682" cy="78418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52% of Employees preference remote work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48% of Employees not prefer remote work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343411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BECB522-5BCD-4EF5-B583-9944C099AA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475940"/>
              </p:ext>
            </p:extLst>
          </p:nvPr>
        </p:nvGraphicFramePr>
        <p:xfrm>
          <a:off x="693405" y="396164"/>
          <a:ext cx="5235447" cy="2267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F4FC72C7-DBE8-41D5-831D-DF98F25BBB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52791904"/>
              </p:ext>
            </p:extLst>
          </p:nvPr>
        </p:nvGraphicFramePr>
        <p:xfrm>
          <a:off x="6784258" y="396164"/>
          <a:ext cx="4845066" cy="2300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EB0F49D-EC51-09AF-17DC-70DD53F89623}"/>
              </a:ext>
            </a:extLst>
          </p:cNvPr>
          <p:cNvSpPr txBox="1"/>
          <p:nvPr/>
        </p:nvSpPr>
        <p:spPr>
          <a:xfrm>
            <a:off x="936149" y="2790602"/>
            <a:ext cx="5521063" cy="37388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LA City has the highest Max . Salary at 1,49,815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DELHI City has the second  highest Max . Salary at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1,49,774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TORONTO City has the third highest Max . Salary at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1,49,547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KARACHI City has the fourth highest Max . Salary at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1,49,289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NY City has the lower to other 4 cities which </a:t>
            </a:r>
          </a:p>
          <a:p>
            <a:pPr algn="just">
              <a:lnSpc>
                <a:spcPct val="150000"/>
              </a:lnSpc>
            </a:pPr>
            <a:r>
              <a:rPr lang="en-US" sz="1600" dirty="0"/>
              <a:t>     difference  between 731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LONDON City has lowest to others </a:t>
            </a:r>
            <a:endParaRPr lang="en-IN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A8C8F-E19A-0295-D062-D91917E161E1}"/>
              </a:ext>
            </a:extLst>
          </p:cNvPr>
          <p:cNvSpPr txBox="1"/>
          <p:nvPr/>
        </p:nvSpPr>
        <p:spPr>
          <a:xfrm>
            <a:off x="7195097" y="2975268"/>
            <a:ext cx="4434227" cy="33695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FINANCE Department has the highest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average working hours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IT Department has the second highest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average working hours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HR Department has the third highest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average working hours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MARKETING Department has the lowest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to compare </a:t>
            </a:r>
            <a:r>
              <a:rPr lang="en-IN" sz="1600" dirty="0" err="1"/>
              <a:t>othes</a:t>
            </a:r>
            <a:r>
              <a:rPr lang="en-IN" sz="1600" dirty="0"/>
              <a:t> but closely to HR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15205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360A8DE-2784-4E8A-B725-4F478F1621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624907"/>
              </p:ext>
            </p:extLst>
          </p:nvPr>
        </p:nvGraphicFramePr>
        <p:xfrm>
          <a:off x="741850" y="401584"/>
          <a:ext cx="5019853" cy="2298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12CFD52-A548-434A-82A4-175C6629B12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4889453"/>
              </p:ext>
            </p:extLst>
          </p:nvPr>
        </p:nvGraphicFramePr>
        <p:xfrm>
          <a:off x="6528620" y="408911"/>
          <a:ext cx="4921531" cy="22915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0D38520-7A48-A067-6A30-CFD19873BA46}"/>
              </a:ext>
            </a:extLst>
          </p:cNvPr>
          <p:cNvSpPr txBox="1"/>
          <p:nvPr/>
        </p:nvSpPr>
        <p:spPr>
          <a:xfrm>
            <a:off x="954849" y="2988934"/>
            <a:ext cx="5141151" cy="15228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In that 6 cities NY has the highest performance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score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Second highest LONDON at about 1018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Least score has KARACHI at about 921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1E3196-C45D-5A1C-2F8D-23134CEDF1E6}"/>
              </a:ext>
            </a:extLst>
          </p:cNvPr>
          <p:cNvSpPr txBox="1"/>
          <p:nvPr/>
        </p:nvSpPr>
        <p:spPr>
          <a:xfrm>
            <a:off x="6828373" y="3011697"/>
            <a:ext cx="4374916" cy="30001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ANALYST job role has the highest salary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MANAGER job role has second highest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Salary which difference between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24,13,537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DESIGNER job role has the third highest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salary Which closely to MANAGER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/>
              <a:t>DEVELOPER job role has the lowest  </a:t>
            </a:r>
          </a:p>
          <a:p>
            <a:pPr algn="just">
              <a:lnSpc>
                <a:spcPct val="150000"/>
              </a:lnSpc>
            </a:pPr>
            <a:r>
              <a:rPr lang="en-IN" sz="1600" dirty="0"/>
              <a:t>     compare to others</a:t>
            </a:r>
          </a:p>
        </p:txBody>
      </p:sp>
    </p:spTree>
    <p:extLst>
      <p:ext uri="{BB962C8B-B14F-4D97-AF65-F5344CB8AC3E}">
        <p14:creationId xmlns:p14="http://schemas.microsoft.com/office/powerpoint/2010/main" val="4009022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D841DA-7564-3E06-610C-06FD7F0AB45B}"/>
              </a:ext>
            </a:extLst>
          </p:cNvPr>
          <p:cNvSpPr txBox="1"/>
          <p:nvPr/>
        </p:nvSpPr>
        <p:spPr>
          <a:xfrm>
            <a:off x="4038096" y="2989007"/>
            <a:ext cx="4115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Bodoni MT Black" panose="02070A03080606020203" pitchFamily="18" charset="0"/>
              </a:rPr>
              <a:t>FINAL INSIGHTS </a:t>
            </a:r>
          </a:p>
        </p:txBody>
      </p:sp>
    </p:spTree>
    <p:extLst>
      <p:ext uri="{BB962C8B-B14F-4D97-AF65-F5344CB8AC3E}">
        <p14:creationId xmlns:p14="http://schemas.microsoft.com/office/powerpoint/2010/main" val="32749114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4A2537B-FBEC-2C61-7D48-60AAC3305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0"/>
            <a:ext cx="11080955" cy="6774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94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DDF2FA-C769-E0FB-2D22-43D22AD29B8A}"/>
              </a:ext>
            </a:extLst>
          </p:cNvPr>
          <p:cNvSpPr txBox="1"/>
          <p:nvPr/>
        </p:nvSpPr>
        <p:spPr>
          <a:xfrm>
            <a:off x="530941" y="707922"/>
            <a:ext cx="8933856" cy="12861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Finance is the </a:t>
            </a:r>
            <a:r>
              <a:rPr lang="en-US" b="1" dirty="0"/>
              <a:t>strongest department</a:t>
            </a:r>
            <a:r>
              <a:rPr lang="en-US" dirty="0"/>
              <a:t> (high salary + performance + workload)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needs </a:t>
            </a:r>
            <a:r>
              <a:rPr lang="en-US" b="1" dirty="0"/>
              <a:t>improvement in salary and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future prediction : </a:t>
            </a: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EA50306-AF93-346C-037D-26D80624A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9510" y="1824554"/>
            <a:ext cx="5710859" cy="1149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salaries may increase to match other departments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Demand for tech roles will push salary growth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AC73C4-00F9-CF22-996D-5DEE08661201}"/>
              </a:ext>
            </a:extLst>
          </p:cNvPr>
          <p:cNvSpPr txBox="1"/>
          <p:nvPr/>
        </p:nvSpPr>
        <p:spPr>
          <a:xfrm>
            <a:off x="567810" y="3352800"/>
            <a:ext cx="886011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PhD holders</a:t>
            </a:r>
            <a:r>
              <a:rPr lang="en-US" dirty="0"/>
              <a:t> are the highest → company prefers highly qualified employees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For future prediction : </a:t>
            </a:r>
            <a:endParaRPr lang="en-IN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B92EA1-14FF-FF69-5A35-2676843C89E9}"/>
              </a:ext>
            </a:extLst>
          </p:cNvPr>
          <p:cNvSpPr txBox="1"/>
          <p:nvPr/>
        </p:nvSpPr>
        <p:spPr>
          <a:xfrm>
            <a:off x="3048000" y="4444631"/>
            <a:ext cx="6096000" cy="1286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More companies will prefer </a:t>
            </a:r>
            <a:r>
              <a:rPr lang="en-US" b="1" dirty="0"/>
              <a:t>Master’s &amp; PhD       candidates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Competition will increase for high-skilled jobs </a:t>
            </a:r>
          </a:p>
        </p:txBody>
      </p:sp>
    </p:spTree>
    <p:extLst>
      <p:ext uri="{BB962C8B-B14F-4D97-AF65-F5344CB8AC3E}">
        <p14:creationId xmlns:p14="http://schemas.microsoft.com/office/powerpoint/2010/main" val="20354770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078823-E5DB-60AA-A482-23CBE9CC760F}"/>
              </a:ext>
            </a:extLst>
          </p:cNvPr>
          <p:cNvSpPr txBox="1"/>
          <p:nvPr/>
        </p:nvSpPr>
        <p:spPr>
          <a:xfrm>
            <a:off x="1078041" y="1064028"/>
            <a:ext cx="6096000" cy="1701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Company relies more on  flexible workforce  (part-time &amp; contract)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4F943FF-658C-BA21-62CF-B9D01123A9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8041" y="1802806"/>
            <a:ext cx="6609502" cy="2394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Workforce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highly educated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Work preference is shifting toward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remote work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IN" dirty="0"/>
              <a:t>   Low-performing areas  (like Karachi will get attention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/>
              <a:t>   Companies may invest in </a:t>
            </a:r>
            <a:r>
              <a:rPr lang="en-US" b="1" dirty="0"/>
              <a:t>training &amp; skill development</a:t>
            </a:r>
            <a:r>
              <a:rPr lang="en-US" dirty="0"/>
              <a:t>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dirty="0"/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8543C612-BC2E-1E9F-B243-21DFA00EF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6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3DF5C-A5AD-DF49-D416-DF6DDC06AEB9}"/>
              </a:ext>
            </a:extLst>
          </p:cNvPr>
          <p:cNvSpPr txBox="1"/>
          <p:nvPr/>
        </p:nvSpPr>
        <p:spPr>
          <a:xfrm>
            <a:off x="0" y="4821818"/>
            <a:ext cx="122809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👉 </a:t>
            </a:r>
            <a:r>
              <a:rPr lang="en-US" i="1" dirty="0"/>
              <a:t>“Overall, the company is strong in finance and highly educated workforce, but future growth will</a:t>
            </a:r>
          </a:p>
          <a:p>
            <a:r>
              <a:rPr lang="en-US" i="1" dirty="0"/>
              <a:t>depend on improving IT performance, adapting to remote work trends, and balancing workforce structure.”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630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2AA660-9267-CB67-2D6B-40D1D440ED80}"/>
              </a:ext>
            </a:extLst>
          </p:cNvPr>
          <p:cNvSpPr txBox="1"/>
          <p:nvPr/>
        </p:nvSpPr>
        <p:spPr>
          <a:xfrm>
            <a:off x="4630994" y="3048000"/>
            <a:ext cx="30788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Bodoni MT Black" panose="02070A03080606020203" pitchFamily="18" charset="0"/>
              </a:rPr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654276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240</TotalTime>
  <Words>917</Words>
  <Application>Microsoft Office PowerPoint</Application>
  <PresentationFormat>Widescreen</PresentationFormat>
  <Paragraphs>153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Bodoni MT Black</vt:lpstr>
      <vt:lpstr>Century Gothic</vt:lpstr>
      <vt:lpstr>Corbel</vt:lpstr>
      <vt:lpstr>Times New Roman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Sandhya S</dc:creator>
  <cp:lastModifiedBy>Sandhya S</cp:lastModifiedBy>
  <cp:revision>4</cp:revision>
  <dcterms:created xsi:type="dcterms:W3CDTF">2026-04-18T14:13:57Z</dcterms:created>
  <dcterms:modified xsi:type="dcterms:W3CDTF">2026-04-19T16:50:23Z</dcterms:modified>
</cp:coreProperties>
</file>